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CloneTracker XP™ + 10x Chromium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B9D4D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each barcode and adapter is added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1645920" cy="73152"/>
          </a:xfrm>
          <a:prstGeom prst="rect">
            <a:avLst/>
          </a:prstGeom>
          <a:solidFill>
            <a:srgbClr val="14857A"/>
          </a:solidFill>
          <a:ln w="12700">
            <a:solidFill>
              <a:srgbClr val="1485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840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visual guide tracking a single transcript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8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barcoded cell to the final sequencing-ready amplicon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 — colors used consistently throughout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5440680"/>
            <a:ext cx="201168" cy="146304"/>
          </a:xfrm>
          <a:prstGeom prst="rect">
            <a:avLst/>
          </a:prstGeom>
          <a:solidFill>
            <a:srgbClr val="4A90D9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54223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+ PuroR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5440680"/>
            <a:ext cx="201168" cy="146304"/>
          </a:xfrm>
          <a:prstGeom prst="rect">
            <a:avLst/>
          </a:prstGeom>
          <a:solidFill>
            <a:srgbClr val="E85D5D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54223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CloneTracker BC (clonal)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0" y="5440680"/>
            <a:ext cx="201168" cy="146304"/>
          </a:xfrm>
          <a:prstGeom prst="rect">
            <a:avLst/>
          </a:prstGeom>
          <a:solidFill>
            <a:srgbClr val="6B6B6B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42432" y="54223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3'-UTR / polyA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80960" y="5440680"/>
            <a:ext cx="201168" cy="146304"/>
          </a:xfrm>
          <a:prstGeom prst="rect">
            <a:avLst/>
          </a:prstGeom>
          <a:solidFill>
            <a:srgbClr val="F0A83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36992" y="54223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Cell Barcode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875520" y="5440680"/>
            <a:ext cx="201168" cy="146304"/>
          </a:xfrm>
          <a:prstGeom prst="rect">
            <a:avLst/>
          </a:prstGeom>
          <a:solidFill>
            <a:srgbClr val="9B59B6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31552" y="54223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5760720"/>
            <a:ext cx="201168" cy="146304"/>
          </a:xfrm>
          <a:prstGeom prst="rect">
            <a:avLst/>
          </a:prstGeom>
          <a:solidFill>
            <a:srgbClr val="2A7A3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57424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Read 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26080" y="5760720"/>
            <a:ext cx="201168" cy="146304"/>
          </a:xfrm>
          <a:prstGeom prst="rect">
            <a:avLst/>
          </a:prstGeom>
          <a:solidFill>
            <a:srgbClr val="1A4A8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82112" y="57424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FBP1 primer site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0" y="5760720"/>
            <a:ext cx="201168" cy="146304"/>
          </a:xfrm>
          <a:prstGeom prst="rect">
            <a:avLst/>
          </a:prstGeom>
          <a:solidFill>
            <a:srgbClr val="C0392B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57424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2 adapter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80960" y="5760720"/>
            <a:ext cx="201168" cy="146304"/>
          </a:xfrm>
          <a:prstGeom prst="rect">
            <a:avLst/>
          </a:prstGeom>
          <a:solidFill>
            <a:srgbClr val="16A08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36992" y="57424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/ P7 + sample index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87552" y="54223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+ PuroR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182112" y="54223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CloneTracker BC (clonal)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742432" y="54223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3'-UTR / polyA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36992" y="54223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Cell Barcode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131552" y="54223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87552" y="57424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Read 1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182112" y="57424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FBP1 primer site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742432" y="57424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2 adapter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936992" y="57424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/ P7 + sample index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14857A"/>
          </a:solidFill>
          <a:ln w="12700">
            <a:solidFill>
              <a:srgbClr val="1485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the cell — transcription of the integrated lentivirus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CloneTracker XP lentivirus has already integrated into the genome. The EFS promoter drives a single mRNA encoding Reporter–2A–PuroR, with the clonal barcode (BC14–spacer–BC30) sitting in the 3'-UTR, ~90 nt upstream of the polyA site.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23774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F3F"/>
                </a:solidFill>
              </a:rPr>
              <a:t>5'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320040" cy="320040"/>
          </a:xfrm>
          <a:prstGeom prst="ellips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8346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670"/>
                </a:solidFill>
              </a:rPr>
              <a:t>cap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43000" y="2377440"/>
            <a:ext cx="3474720" cy="502920"/>
          </a:xfrm>
          <a:prstGeom prst="rect">
            <a:avLst/>
          </a:prstGeom>
          <a:solidFill>
            <a:srgbClr val="4A90D9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377440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(RFP / Venus / rLuc) – 2A – PuroR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2377440"/>
            <a:ext cx="914400" cy="502920"/>
          </a:xfrm>
          <a:prstGeom prst="rect">
            <a:avLst/>
          </a:prstGeom>
          <a:solidFill>
            <a:srgbClr val="6B6B6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237744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3'UTR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32120" y="2377440"/>
            <a:ext cx="1737360" cy="502920"/>
          </a:xfrm>
          <a:prstGeom prst="rect">
            <a:avLst/>
          </a:prstGeom>
          <a:solidFill>
            <a:srgbClr val="E85D5D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0408" y="23774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BC14 – sp – BC30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69480" y="2377440"/>
            <a:ext cx="2286000" cy="502920"/>
          </a:xfrm>
          <a:prstGeom prst="rect">
            <a:avLst/>
          </a:prstGeom>
          <a:solidFill>
            <a:srgbClr val="6B6B6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87768" y="237744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3'UTR (~90 nt to polyA)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555480" y="2377440"/>
            <a:ext cx="2011680" cy="502920"/>
          </a:xfrm>
          <a:prstGeom prst="rect">
            <a:avLst/>
          </a:prstGeom>
          <a:solidFill>
            <a:srgbClr val="2B2B2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73768" y="237744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AAAAAAAA...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612880" y="23774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F3F"/>
                </a:solidFill>
              </a:rPr>
              <a:t>3'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3063240"/>
            <a:ext cx="0" cy="164592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61320" y="3063240"/>
            <a:ext cx="0" cy="164592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227832"/>
            <a:ext cx="41605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943600" y="33375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~150–200 nt from the barcode to the polyA site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solidFill>
            <a:srgbClr val="F4FAF9"/>
          </a:solidFill>
          <a:ln w="12700">
            <a:solidFill>
              <a:srgbClr val="1485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846320"/>
            <a:ext cx="91440" cy="1463040"/>
          </a:xfrm>
          <a:prstGeom prst="rect">
            <a:avLst/>
          </a:prstGeom>
          <a:solidFill>
            <a:srgbClr val="14857A"/>
          </a:solidFill>
          <a:ln w="12700">
            <a:solidFill>
              <a:srgbClr val="1485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521208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from the 10x workflow has been added yet. The only "tag" present is the clonal barcode — installed when the lentivirus integrated into the genome, long before the scRNA-Seq experiment began. Every descendant of this founder cell inherits the same barcode.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14857A"/>
          </a:solidFill>
          <a:ln w="12700">
            <a:solidFill>
              <a:srgbClr val="1485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the 10x droplet — RT attaches the cell barcode + UMI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droplet contains one cell + one gel bead. Every oligo on the bead has the structure [Partial Read 1]–[Cell BC]–[UMI]–[polyT]. All oligos on one bead share the same cell barcode but each carries a different UMI. The polyT anneals to the mRNA's polyA tail and reverse transcriptase extends backward through the entire transcript.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857A"/>
                </a:solidFill>
              </a:rPr>
              <a:t>Gel-bead oligo (primer)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737360" cy="365760"/>
          </a:xfrm>
          <a:prstGeom prst="rect">
            <a:avLst/>
          </a:prstGeom>
          <a:solidFill>
            <a:srgbClr val="2A7A3A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37744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Read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2377440"/>
            <a:ext cx="1371600" cy="365760"/>
          </a:xfrm>
          <a:prstGeom prst="rect">
            <a:avLst/>
          </a:prstGeom>
          <a:solidFill>
            <a:srgbClr val="F0A830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04288" y="237744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BC (16 nt)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2377440"/>
            <a:ext cx="1097280" cy="365760"/>
          </a:xfrm>
          <a:prstGeom prst="rect">
            <a:avLst/>
          </a:prstGeom>
          <a:solidFill>
            <a:srgbClr val="9B59B6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23774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 (12)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377440"/>
            <a:ext cx="1005840" cy="365760"/>
          </a:xfrm>
          <a:prstGeom prst="rect">
            <a:avLst/>
          </a:prstGeom>
          <a:solidFill>
            <a:srgbClr val="2B2B2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237744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TTTTTT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5216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0"/>
                </a:solidFill>
              </a:rPr>
              <a:t>→ primes on polyA, RT extends 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11064240" cy="0"/>
          </a:xfrm>
          <a:prstGeom prst="line">
            <a:avLst/>
          </a:prstGeom>
          <a:noFill/>
          <a:ln w="12700">
            <a:solidFill>
              <a:srgbClr val="E1E8E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108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80"/>
                </a:solidFill>
              </a:rPr>
              <a:t>mRNA template (from Step 1)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3337560"/>
            <a:ext cx="3200400" cy="365760"/>
          </a:xfrm>
          <a:prstGeom prst="rect">
            <a:avLst/>
          </a:prstGeom>
          <a:solidFill>
            <a:srgbClr val="4A90D9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33756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– 2A – PuroR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0" y="3337560"/>
            <a:ext cx="822960" cy="365760"/>
          </a:xfrm>
          <a:prstGeom prst="rect">
            <a:avLst/>
          </a:prstGeom>
          <a:solidFill>
            <a:srgbClr val="6B6B6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33088" y="3337560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3'UTR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37760" y="3337560"/>
            <a:ext cx="1645920" cy="365760"/>
          </a:xfrm>
          <a:prstGeom prst="rect">
            <a:avLst/>
          </a:prstGeom>
          <a:solidFill>
            <a:srgbClr val="E85D5D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33375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CloneTracker BC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3337560"/>
            <a:ext cx="2194560" cy="365760"/>
          </a:xfrm>
          <a:prstGeom prst="rect">
            <a:avLst/>
          </a:prstGeom>
          <a:solidFill>
            <a:srgbClr val="6B6B6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01968" y="333756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3'UTR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778240" y="3337560"/>
            <a:ext cx="2286000" cy="365760"/>
          </a:xfrm>
          <a:prstGeom prst="rect">
            <a:avLst/>
          </a:prstGeom>
          <a:solidFill>
            <a:srgbClr val="2B2B2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96528" y="333756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AAAAAAAA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3886200"/>
            <a:ext cx="987552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headEnd type="triangle"/>
          </a:ln>
        </p:spPr>
      </p:sp>
      <p:sp>
        <p:nvSpPr>
          <p:cNvPr id="29" name="Text 27"/>
          <p:cNvSpPr/>
          <p:nvPr/>
        </p:nvSpPr>
        <p:spPr>
          <a:xfrm>
            <a:off x="4114800" y="3931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C0392B"/>
                </a:solidFill>
              </a:rPr>
              <a:t>RT synthesizes cDNA in this direction →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343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857A"/>
                </a:solidFill>
              </a:rPr>
              <a:t>Resulting cDNA (read 5' → 3')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572000"/>
            <a:ext cx="1280160" cy="457200"/>
          </a:xfrm>
          <a:prstGeom prst="rect">
            <a:avLst/>
          </a:prstGeom>
          <a:solidFill>
            <a:srgbClr val="2A7A3A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5720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Read 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28800" y="4572000"/>
            <a:ext cx="1005840" cy="457200"/>
          </a:xfrm>
          <a:prstGeom prst="rect">
            <a:avLst/>
          </a:prstGeom>
          <a:solidFill>
            <a:srgbClr val="F0A830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47088" y="457200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BC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34640" y="4572000"/>
            <a:ext cx="822960" cy="457200"/>
          </a:xfrm>
          <a:prstGeom prst="rect">
            <a:avLst/>
          </a:prstGeom>
          <a:solidFill>
            <a:srgbClr val="9B59B6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52928" y="4572000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0" y="4572000"/>
            <a:ext cx="822960" cy="457200"/>
          </a:xfrm>
          <a:prstGeom prst="rect">
            <a:avLst/>
          </a:prstGeom>
          <a:solidFill>
            <a:srgbClr val="2B2B2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75888" y="4572000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TTTT..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80560" y="4572000"/>
            <a:ext cx="1920240" cy="457200"/>
          </a:xfrm>
          <a:prstGeom prst="rect">
            <a:avLst/>
          </a:prstGeom>
          <a:solidFill>
            <a:srgbClr val="6B6B6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98848" y="45720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3'UTR (rev-comp)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0" y="4572000"/>
            <a:ext cx="1554480" cy="457200"/>
          </a:xfrm>
          <a:prstGeom prst="rect">
            <a:avLst/>
          </a:prstGeom>
          <a:solidFill>
            <a:srgbClr val="E85D5D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19088" y="457200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CloneTracker BC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955280" y="4572000"/>
            <a:ext cx="1005840" cy="457200"/>
          </a:xfrm>
          <a:prstGeom prst="rect">
            <a:avLst/>
          </a:prstGeom>
          <a:solidFill>
            <a:srgbClr val="6B6B6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73568" y="457200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3'UTR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961120" y="4572000"/>
            <a:ext cx="2651760" cy="457200"/>
          </a:xfrm>
          <a:prstGeom prst="rect">
            <a:avLst/>
          </a:prstGeom>
          <a:solidFill>
            <a:srgbClr val="4A90D9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79408" y="45720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Reporter–2A–PuroR (rev-comp)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5440680"/>
            <a:ext cx="11064240" cy="1143000"/>
          </a:xfrm>
          <a:prstGeom prst="rect">
            <a:avLst/>
          </a:prstGeom>
          <a:solidFill>
            <a:srgbClr val="F4FAF9"/>
          </a:solidFill>
          <a:ln w="12700">
            <a:solidFill>
              <a:srgbClr val="14857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" y="5440680"/>
            <a:ext cx="91440" cy="1143000"/>
          </a:xfrm>
          <a:prstGeom prst="rect">
            <a:avLst/>
          </a:prstGeom>
          <a:solidFill>
            <a:srgbClr val="14857A"/>
          </a:solidFill>
          <a:ln w="12700">
            <a:solidFill>
              <a:srgbClr val="14857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" y="55046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22960" y="57607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10x Cell Barcode and UMI are now covalently attached to the same cDNA molecule that carries the CloneTracker barcode. This physical linkage — on one single cDNA strand — is the entire basis for assigning a clone to a cell in the downstream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14857A"/>
          </a:solidFill>
          <a:ln w="12700">
            <a:solidFill>
              <a:srgbClr val="1485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Bulk cDNA amplification (standard 10x step)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Droplets are broken, cDNAs from all cells are pooled, and the entire pool is PCR-amplified using generic primers (Partial Read 1 + template-switch oligo). No new barcodes are added — the molecule simply gets copied many times.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371600" cy="502920"/>
          </a:xfrm>
          <a:prstGeom prst="rect">
            <a:avLst/>
          </a:prstGeom>
          <a:solidFill>
            <a:srgbClr val="2A7A3A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28600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Read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2286000"/>
            <a:ext cx="1097280" cy="502920"/>
          </a:xfrm>
          <a:prstGeom prst="rect">
            <a:avLst/>
          </a:prstGeom>
          <a:solidFill>
            <a:srgbClr val="F0A830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38528" y="2286000"/>
            <a:ext cx="106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BC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2286000"/>
            <a:ext cx="822960" cy="502920"/>
          </a:xfrm>
          <a:prstGeom prst="rect">
            <a:avLst/>
          </a:prstGeom>
          <a:solidFill>
            <a:srgbClr val="9B59B6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2286000"/>
            <a:ext cx="78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2286000"/>
            <a:ext cx="731520" cy="502920"/>
          </a:xfrm>
          <a:prstGeom prst="rect">
            <a:avLst/>
          </a:prstGeom>
          <a:solidFill>
            <a:srgbClr val="2B2B2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58768" y="2286000"/>
            <a:ext cx="694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286000"/>
            <a:ext cx="1828800" cy="502920"/>
          </a:xfrm>
          <a:prstGeom prst="rect">
            <a:avLst/>
          </a:prstGeom>
          <a:solidFill>
            <a:srgbClr val="6B6B6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22860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3'UTR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2286000"/>
            <a:ext cx="1554480" cy="502920"/>
          </a:xfrm>
          <a:prstGeom prst="rect">
            <a:avLst/>
          </a:prstGeom>
          <a:solidFill>
            <a:srgbClr val="E85D5D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228600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CloneTracker BC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5280" y="2286000"/>
            <a:ext cx="1005840" cy="502920"/>
          </a:xfrm>
          <a:prstGeom prst="rect">
            <a:avLst/>
          </a:prstGeom>
          <a:solidFill>
            <a:srgbClr val="6B6B6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73568" y="2286000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3'UTR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61120" y="2286000"/>
            <a:ext cx="2651760" cy="502920"/>
          </a:xfrm>
          <a:prstGeom prst="rect">
            <a:avLst/>
          </a:prstGeom>
          <a:solidFill>
            <a:srgbClr val="4A90D9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79408" y="228600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Reporter–2A–PuroR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2926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millions of copies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474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now FORKS into two parallel libraries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88720" y="4023360"/>
            <a:ext cx="4572000" cy="2194560"/>
          </a:xfrm>
          <a:prstGeom prst="rect">
            <a:avLst/>
          </a:prstGeom>
          <a:solidFill>
            <a:srgbClr val="F4FAF9"/>
          </a:solidFill>
          <a:ln w="15240">
            <a:solidFill>
              <a:srgbClr val="1485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 of cDNA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gene-expression library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48920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normal 10x 3' v3.1 workflow: fragmentation → adapter ligation → sample index PCR. Gives you the transcriptomic profile of every cell.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4023360"/>
            <a:ext cx="4572000" cy="2194560"/>
          </a:xfrm>
          <a:prstGeom prst="rect">
            <a:avLst/>
          </a:prstGeom>
          <a:solidFill>
            <a:srgbClr val="FDF4F4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of cDNA (~10 µL aliquot)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CloneTracker barcode library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83680" y="48920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PCR with a CloneTracker-specific primer enriches the barcode cassette ~64×. Gives you the clonal identity of every cell (Step 4).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14857A"/>
          </a:solidFill>
          <a:ln w="12700">
            <a:solidFill>
              <a:srgbClr val="1485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Targeted PCR — enrich for the CloneTracker barcode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PCR on the ~10 µL cDNA aliquot with two primers. This selectively amplifies only the region spanning the 10x Cell Barcode → CloneTracker barcode, and adds a Read 2 / Illumina adapter on the CloneTracker end.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663440"/>
                <a:gridCol w="47548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Primer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Sequence (5' → 3')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Anneals to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2F3F"/>
                          </a:solidFill>
                        </a:rPr>
                        <a:t>Partial Read 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F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CTACACGACGCTCTTCCGATCT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670"/>
                          </a:solidFill>
                        </a:rPr>
                        <a:t>The Partial Read 1 sequence already on the cDNA (from the bead oligo)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2F3F"/>
                          </a:solidFill>
                        </a:rPr>
                        <a:t>Adaptor-FBP1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2F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GTGACTGGAGTTCAGACGTGTGCTCTTCCGATCTCCGACCACCGAACGCAACGCACGCA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670"/>
                          </a:solidFill>
                        </a:rPr>
                        <a:t>A fixed region of the CloneTracker cassette just upstream of the barcode; 5' tail carries an Illumina Read 2 adapter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611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PCR product (~350–375 nt)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977640"/>
            <a:ext cx="1371600" cy="548640"/>
          </a:xfrm>
          <a:prstGeom prst="rect">
            <a:avLst/>
          </a:prstGeom>
          <a:solidFill>
            <a:srgbClr val="2A7A3A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39776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Read 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920240" y="3977640"/>
            <a:ext cx="1097280" cy="548640"/>
          </a:xfrm>
          <a:prstGeom prst="rect">
            <a:avLst/>
          </a:prstGeom>
          <a:solidFill>
            <a:srgbClr val="F0A830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38528" y="3977640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BC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017520" y="3977640"/>
            <a:ext cx="822960" cy="548640"/>
          </a:xfrm>
          <a:prstGeom prst="rect">
            <a:avLst/>
          </a:prstGeom>
          <a:solidFill>
            <a:srgbClr val="9B59B6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35808" y="3977640"/>
            <a:ext cx="78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840480" y="3977640"/>
            <a:ext cx="2103120" cy="548640"/>
          </a:xfrm>
          <a:prstGeom prst="rect">
            <a:avLst/>
          </a:prstGeom>
          <a:solidFill>
            <a:srgbClr val="6B6B6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58768" y="397764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3'UTR piece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0" y="3977640"/>
            <a:ext cx="1920240" cy="548640"/>
          </a:xfrm>
          <a:prstGeom prst="rect">
            <a:avLst/>
          </a:prstGeom>
          <a:solidFill>
            <a:srgbClr val="E85D5D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61888" y="39776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CloneTracker BC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863840" y="3977640"/>
            <a:ext cx="1737360" cy="548640"/>
          </a:xfrm>
          <a:prstGeom prst="rect">
            <a:avLst/>
          </a:prstGeom>
          <a:solidFill>
            <a:srgbClr val="1A4A8A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82128" y="39776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FBP1 site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601200" y="3977640"/>
            <a:ext cx="2011680" cy="548640"/>
          </a:xfrm>
          <a:prstGeom prst="rect">
            <a:avLst/>
          </a:prstGeom>
          <a:solidFill>
            <a:srgbClr val="C0392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19488" y="397764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2 adapter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607040" y="4709160"/>
            <a:ext cx="0" cy="36576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7772400" y="5120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added by Adaptor-FBP1 primer tail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5623560"/>
            <a:ext cx="11064240" cy="868680"/>
          </a:xfrm>
          <a:prstGeom prst="rect">
            <a:avLst/>
          </a:prstGeom>
          <a:solidFill>
            <a:srgbClr val="FFF8F0"/>
          </a:solidFill>
          <a:ln w="12700">
            <a:solidFill>
              <a:srgbClr val="F0A83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8640" y="5623560"/>
            <a:ext cx="91440" cy="868680"/>
          </a:xfrm>
          <a:prstGeom prst="rect">
            <a:avLst/>
          </a:prstGeom>
          <a:solidFill>
            <a:srgbClr val="F0A830"/>
          </a:solidFill>
          <a:ln w="12700">
            <a:solidFill>
              <a:srgbClr val="F0A83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2960" y="5687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22960" y="592531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6 extra cycles vs. the standard 10x Sample Index PCR — this pushes CloneTracker amplicon abundance ~64× higher than bulk transcripts. Confirm on a Bioanalyzer by looking for a band at ~350–375 nt. If absent, add 2–4 more cycles.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14857A"/>
          </a:solidFill>
          <a:ln w="12700">
            <a:solidFill>
              <a:srgbClr val="1485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Index PCR — add P5 / P7 flow-cell adapters + index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PCR (10x's standard indexing PCR) adds the P5 and P7 flow-cell binding sites plus sample index sequences (i7, and on newer kits also i5). Use a different i5/i7 pair for the CloneTracker library than for the gene-expression library, so the two can be demultiplexed after sequencing.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sequencing-ready amplicon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914400" cy="594360"/>
          </a:xfrm>
          <a:prstGeom prst="rect">
            <a:avLst/>
          </a:prstGeom>
          <a:solidFill>
            <a:srgbClr val="16A085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560320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63040" y="2560320"/>
            <a:ext cx="1097280" cy="594360"/>
          </a:xfrm>
          <a:prstGeom prst="rect">
            <a:avLst/>
          </a:prstGeom>
          <a:solidFill>
            <a:srgbClr val="2A7A3A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1328" y="2560320"/>
            <a:ext cx="1060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2560320"/>
            <a:ext cx="1005840" cy="594360"/>
          </a:xfrm>
          <a:prstGeom prst="rect">
            <a:avLst/>
          </a:prstGeom>
          <a:solidFill>
            <a:srgbClr val="F0A830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2560320"/>
            <a:ext cx="969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BC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2560320"/>
            <a:ext cx="731520" cy="594360"/>
          </a:xfrm>
          <a:prstGeom prst="rect">
            <a:avLst/>
          </a:prstGeom>
          <a:solidFill>
            <a:srgbClr val="9B59B6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4448" y="2560320"/>
            <a:ext cx="694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560320"/>
            <a:ext cx="1737360" cy="594360"/>
          </a:xfrm>
          <a:prstGeom prst="rect">
            <a:avLst/>
          </a:prstGeom>
          <a:solidFill>
            <a:srgbClr val="6B6B6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2560320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3'UTR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560320"/>
            <a:ext cx="1920240" cy="594360"/>
          </a:xfrm>
          <a:prstGeom prst="rect">
            <a:avLst/>
          </a:prstGeom>
          <a:solidFill>
            <a:srgbClr val="E85D5D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53328" y="256032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CloneTracker BC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2560320"/>
            <a:ext cx="1097280" cy="594360"/>
          </a:xfrm>
          <a:prstGeom prst="rect">
            <a:avLst/>
          </a:prstGeom>
          <a:solidFill>
            <a:srgbClr val="1A4A8A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73568" y="2560320"/>
            <a:ext cx="1060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FBP1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2560" y="2560320"/>
            <a:ext cx="1280160" cy="594360"/>
          </a:xfrm>
          <a:prstGeom prst="rect">
            <a:avLst/>
          </a:prstGeom>
          <a:solidFill>
            <a:srgbClr val="C0392B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0848" y="2560320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332720" y="2560320"/>
            <a:ext cx="731520" cy="594360"/>
          </a:xfrm>
          <a:prstGeom prst="rect">
            <a:avLst/>
          </a:prstGeom>
          <a:solidFill>
            <a:srgbClr val="16A085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51008" y="2560320"/>
            <a:ext cx="694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i7 idx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064240" y="2560320"/>
            <a:ext cx="548640" cy="594360"/>
          </a:xfrm>
          <a:prstGeom prst="rect">
            <a:avLst/>
          </a:prstGeom>
          <a:solidFill>
            <a:srgbClr val="16A085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082528" y="2560320"/>
            <a:ext cx="512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463040" y="3383280"/>
            <a:ext cx="2103120" cy="0"/>
          </a:xfrm>
          <a:prstGeom prst="line">
            <a:avLst/>
          </a:prstGeom>
          <a:noFill/>
          <a:ln w="25400">
            <a:solidFill>
              <a:srgbClr val="2A7A3A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005840" y="3456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7A3A"/>
                </a:solidFill>
              </a:rPr>
              <a:t>Read 1  →  Cell BC + UMI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3383280"/>
            <a:ext cx="301752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headEnd type="triangle"/>
          </a:ln>
        </p:spPr>
      </p:sp>
      <p:sp>
        <p:nvSpPr>
          <p:cNvPr id="30" name="Text 28"/>
          <p:cNvSpPr/>
          <p:nvPr/>
        </p:nvSpPr>
        <p:spPr>
          <a:xfrm>
            <a:off x="576072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Read 2  ←  CloneTracker BC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114800"/>
            <a:ext cx="11064240" cy="2286000"/>
          </a:xfrm>
          <a:prstGeom prst="rect">
            <a:avLst/>
          </a:prstGeom>
          <a:solidFill>
            <a:srgbClr val="0F2F3F"/>
          </a:solidFill>
          <a:ln w="12700">
            <a:solidFill>
              <a:srgbClr val="0F2F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251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sequencer reads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2960" y="4663440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Read 1: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10x Cell Barcode + UMI (identifies which cell this molecule came from)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Read 2: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CloneTracker clonal barcode (identifies which clone this cell belongs to)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B9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reads come off the </a:t>
            </a:r>
            <a:pPr indent="0" marL="0">
              <a:spcAft>
                <a:spcPts val="200"/>
              </a:spcAft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molecule</a:t>
            </a:r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B9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they provably belong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14857A"/>
          </a:solidFill>
          <a:ln w="12700">
            <a:solidFill>
              <a:srgbClr val="1485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— which tag gets added at which step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468880"/>
                <a:gridCol w="3200400"/>
                <a:gridCol w="3474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Tag / adapter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Added at which step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Where on the molecule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Added by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3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5D5D"/>
                          </a:solidFill>
                        </a:rPr>
                        <a:t>CloneTracker clonal BC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670"/>
                          </a:solidFill>
                        </a:rPr>
                        <a:t>Before the experiment — at lentiviral integration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670"/>
                          </a:solidFill>
                        </a:rPr>
                        <a:t>Inside the 3'-UTR, ~150–200 nt upstream of polyA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670"/>
                          </a:solidFill>
                        </a:rPr>
                        <a:t>Lentivirus integrates into genomic DNA; inherited by all descendants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07020"/>
                          </a:solidFill>
                        </a:rPr>
                        <a:t>10x Cell Barcode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670"/>
                          </a:solidFill>
                        </a:rPr>
                        <a:t>Step 2 — inside the droplet during 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670"/>
                          </a:solidFill>
                        </a:rPr>
                        <a:t>5' end of the cDNA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670"/>
                          </a:solidFill>
                        </a:rPr>
                        <a:t>Pre-printed on the gel-bead oligo; becomes covalent via RT extension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B59B6"/>
                          </a:solidFill>
                        </a:rPr>
                        <a:t>UMI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670"/>
                          </a:solidFill>
                        </a:rPr>
                        <a:t>Step 2 — inside the droplet during 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670"/>
                          </a:solidFill>
                        </a:rPr>
                        <a:t>Between cell barcode and polyT (5' end of cDNA)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670"/>
                          </a:solidFill>
                        </a:rPr>
                        <a:t>Pre-printed on the gel-bead oligo (unique per primer molecule)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7A3A"/>
                          </a:solidFill>
                        </a:rPr>
                        <a:t>Partial Read 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670"/>
                          </a:solidFill>
                        </a:rPr>
                        <a:t>Step 2 — inside the droplet during 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670"/>
                          </a:solidFill>
                        </a:rPr>
                        <a:t>Furthest 5' end of the cDNA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670"/>
                          </a:solidFill>
                        </a:rPr>
                        <a:t>Pre-printed on the gel-bead oligo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</a:rPr>
                        <a:t>Read 2 adapter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670"/>
                          </a:solidFill>
                        </a:rPr>
                        <a:t>Step 4 — targeted PCR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670"/>
                          </a:solidFill>
                        </a:rPr>
                        <a:t>3' end of the amplicon, downstream of the CloneTracker BC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670"/>
                          </a:solidFill>
                        </a:rPr>
                        <a:t>5' tail of the Adaptor-FBP1 primer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085"/>
                          </a:solidFill>
                        </a:rPr>
                        <a:t>P5 / P7 + sample index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670"/>
                          </a:solidFill>
                        </a:rPr>
                        <a:t>Step 5 — Sample Index PCR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670"/>
                          </a:solidFill>
                        </a:rPr>
                        <a:t>Outermost ends of the final library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670"/>
                          </a:solidFill>
                        </a:rPr>
                        <a:t>10x Sample Index primers (use different i5/i7 than gene-exp. library)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solidFill>
            <a:srgbClr val="F4FAF9"/>
          </a:solidFill>
          <a:ln w="12700">
            <a:solidFill>
              <a:srgbClr val="14857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the 10x Cell BC and the CloneTracker BC end up on the same cDNA molecule in Step 2 — everything downstream just copies and reformats that linkage.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analysis links cell → clone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371600" cy="54864"/>
          </a:xfrm>
          <a:prstGeom prst="rect">
            <a:avLst/>
          </a:prstGeom>
          <a:solidFill>
            <a:srgbClr val="14857A"/>
          </a:solidFill>
          <a:ln w="12700">
            <a:solidFill>
              <a:srgbClr val="1485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3566160" cy="3657600"/>
          </a:xfrm>
          <a:prstGeom prst="rect">
            <a:avLst/>
          </a:prstGeom>
          <a:solidFill>
            <a:srgbClr val="16344A"/>
          </a:solidFill>
          <a:ln w="6350">
            <a:solidFill>
              <a:srgbClr val="2452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1 gives the cell ID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read pair, extract the 10x Cell Barcode + UMI from the Read 1 side.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read came from cell X."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3657600"/>
          </a:xfrm>
          <a:prstGeom prst="rect">
            <a:avLst/>
          </a:prstGeom>
          <a:solidFill>
            <a:srgbClr val="16344A"/>
          </a:solidFill>
          <a:ln w="6350">
            <a:solidFill>
              <a:srgbClr val="2452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48056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2 gives the clone ID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2743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Read 2 side of the SAME read pair, extract the CloneTracker clonal barcode.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4206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"...and cell X belongs to clone Y."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66160" cy="3657600"/>
          </a:xfrm>
          <a:prstGeom prst="rect">
            <a:avLst/>
          </a:prstGeom>
          <a:solidFill>
            <a:srgbClr val="16344A"/>
          </a:solidFill>
          <a:ln w="6350">
            <a:solidFill>
              <a:srgbClr val="2452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22960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with the expression library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0" y="2743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gene-expression library uses the SAME 10x cell barcodes. Join the two tables on Cell BC.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4206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4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"Clone Y has this expression profile."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3949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caveats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6692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MOI &lt; 0.2 so &gt;90% of cells receive only one clonal barcode.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 multiple reads supporting each Cell-BC ↔ Clone-BC pairing before calling it confidently.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Doublets show up as one Cell-BC linked to two Clone-BCs — filter using standard scRNA-Seq doublet tools.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 each barcode is added</dc:title>
  <dc:subject>PptxGenJS Presentation</dc:subject>
  <dc:creator>Cellecta CloneTracker XP Workflow</dc:creator>
  <cp:lastModifiedBy>Cellecta CloneTracker XP Workflow</cp:lastModifiedBy>
  <cp:revision>1</cp:revision>
  <dcterms:created xsi:type="dcterms:W3CDTF">2026-04-22T08:54:22Z</dcterms:created>
  <dcterms:modified xsi:type="dcterms:W3CDTF">2026-04-22T08:54:22Z</dcterms:modified>
</cp:coreProperties>
</file>