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B1E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1828800"/>
            <a:ext cx="106984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Detecting CloneTracker barcodes with scRNA-Seq alone</a:t>
            </a:r>
            <a:endParaRPr lang="en-US" sz="3800" dirty="0"/>
          </a:p>
        </p:txBody>
      </p:sp>
      <p:sp>
        <p:nvSpPr>
          <p:cNvPr id="3" name="Text 1"/>
          <p:cNvSpPr/>
          <p:nvPr/>
        </p:nvSpPr>
        <p:spPr>
          <a:xfrm>
            <a:off x="731520" y="3200400"/>
            <a:ext cx="10698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i="1" dirty="0">
                <a:solidFill>
                  <a:srgbClr val="E8C9BE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No targeted enrichment — what actually happens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731520" y="3840480"/>
            <a:ext cx="1645920" cy="73152"/>
          </a:xfrm>
          <a:prstGeom prst="rect">
            <a:avLst/>
          </a:prstGeom>
          <a:solidFill>
            <a:srgbClr val="B85042"/>
          </a:solidFill>
          <a:ln w="12700">
            <a:solidFill>
              <a:srgbClr val="B85042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4069080"/>
            <a:ext cx="106984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D8C0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relying on standard scRNA-Seq alone gives unreliable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D8C0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clonal-barcode recovery — and what the failure modes look like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31520" y="5577840"/>
            <a:ext cx="10698480" cy="640080"/>
          </a:xfrm>
          <a:prstGeom prst="rect">
            <a:avLst/>
          </a:prstGeom>
          <a:solidFill>
            <a:srgbClr val="4A2A2A"/>
          </a:solidFill>
          <a:ln w="12700">
            <a:solidFill>
              <a:srgbClr val="B8504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14400" y="5577840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E4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 Standard 10x Chromium 3' chemistry is NOT designed to capture the CloneTracker barcode reliably.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20040"/>
            <a:ext cx="640080" cy="640080"/>
          </a:xfrm>
          <a:prstGeom prst="ellipse">
            <a:avLst/>
          </a:prstGeom>
          <a:solidFill>
            <a:srgbClr val="B85042"/>
          </a:solidFill>
          <a:ln w="12700">
            <a:solidFill>
              <a:srgbClr val="B8504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32004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1234440" y="320040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2B1E1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setup — identical up to cDNA synthesis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548640" y="114300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4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Everything through reverse transcription is exactly the same as the standard workflow: the mRNA carries the CloneTracker barcode in the 3'-UTR, and RT in the droplet attaches the 10x Cell Barcode + UMI at the 5' end of the cDNA. The difference begins at what you do with that cDNA afterwards.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548640" y="21488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B850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cDNA after RT (inside the droplet)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548640" y="2514600"/>
            <a:ext cx="1280160" cy="548640"/>
          </a:xfrm>
          <a:prstGeom prst="rect">
            <a:avLst/>
          </a:prstGeom>
          <a:solidFill>
            <a:srgbClr val="2A7A3A"/>
          </a:solidFill>
          <a:ln w="9525">
            <a:solidFill>
              <a:srgbClr val="222222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66928" y="2514600"/>
            <a:ext cx="124358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P. Read 1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1828800" y="2514600"/>
            <a:ext cx="1097280" cy="548640"/>
          </a:xfrm>
          <a:prstGeom prst="rect">
            <a:avLst/>
          </a:prstGeom>
          <a:solidFill>
            <a:srgbClr val="F0A830"/>
          </a:solidFill>
          <a:ln w="9525">
            <a:solidFill>
              <a:srgbClr val="222222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847088" y="2514600"/>
            <a:ext cx="106070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Cell BC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2926080" y="2514600"/>
            <a:ext cx="822960" cy="548640"/>
          </a:xfrm>
          <a:prstGeom prst="rect">
            <a:avLst/>
          </a:prstGeom>
          <a:solidFill>
            <a:srgbClr val="9B59B6"/>
          </a:solidFill>
          <a:ln w="9525">
            <a:solidFill>
              <a:srgbClr val="222222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944368" y="2514600"/>
            <a:ext cx="78638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UMI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3749040" y="2514600"/>
            <a:ext cx="731520" cy="548640"/>
          </a:xfrm>
          <a:prstGeom prst="rect">
            <a:avLst/>
          </a:prstGeom>
          <a:solidFill>
            <a:srgbClr val="2B2B2B"/>
          </a:solidFill>
          <a:ln w="9525">
            <a:solidFill>
              <a:srgbClr val="222222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767328" y="2514600"/>
            <a:ext cx="69494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TTTT..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4480560" y="2514600"/>
            <a:ext cx="2011680" cy="548640"/>
          </a:xfrm>
          <a:prstGeom prst="rect">
            <a:avLst/>
          </a:prstGeom>
          <a:solidFill>
            <a:srgbClr val="6B6B6B"/>
          </a:solidFill>
          <a:ln w="9525">
            <a:solidFill>
              <a:srgbClr val="222222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498848" y="2514600"/>
            <a:ext cx="197510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3'UTR (rev-comp)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6492240" y="2514600"/>
            <a:ext cx="1554480" cy="548640"/>
          </a:xfrm>
          <a:prstGeom prst="rect">
            <a:avLst/>
          </a:prstGeom>
          <a:solidFill>
            <a:srgbClr val="E85D5D"/>
          </a:solidFill>
          <a:ln w="9525">
            <a:solidFill>
              <a:srgbClr val="222222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510528" y="2514600"/>
            <a:ext cx="151790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CloneTracker BC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8046720" y="2514600"/>
            <a:ext cx="1005840" cy="548640"/>
          </a:xfrm>
          <a:prstGeom prst="rect">
            <a:avLst/>
          </a:prstGeom>
          <a:solidFill>
            <a:srgbClr val="6B6B6B"/>
          </a:solidFill>
          <a:ln w="9525">
            <a:solidFill>
              <a:srgbClr val="222222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065008" y="2514600"/>
            <a:ext cx="96926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3'UTR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9052560" y="2514600"/>
            <a:ext cx="2560320" cy="548640"/>
          </a:xfrm>
          <a:prstGeom prst="rect">
            <a:avLst/>
          </a:prstGeom>
          <a:solidFill>
            <a:srgbClr val="4A90D9"/>
          </a:solidFill>
          <a:ln w="9525">
            <a:solidFill>
              <a:srgbClr val="222222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9070848" y="2514600"/>
            <a:ext cx="252374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Reporter–2A–PuroR (rev-comp)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3337560" y="3246120"/>
            <a:ext cx="0" cy="137160"/>
          </a:xfrm>
          <a:prstGeom prst="line">
            <a:avLst/>
          </a:prstGeom>
          <a:noFill/>
          <a:ln w="12700">
            <a:solidFill>
              <a:srgbClr val="444444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7269480" y="3246120"/>
            <a:ext cx="0" cy="137160"/>
          </a:xfrm>
          <a:prstGeom prst="line">
            <a:avLst/>
          </a:prstGeom>
          <a:noFill/>
          <a:ln w="12700">
            <a:solidFill>
              <a:srgbClr val="444444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3337560" y="3383280"/>
            <a:ext cx="3931920" cy="0"/>
          </a:xfrm>
          <a:prstGeom prst="line">
            <a:avLst/>
          </a:prstGeom>
          <a:noFill/>
          <a:ln w="12700">
            <a:solidFill>
              <a:srgbClr val="444444"/>
            </a:solidFill>
            <a:prstDash val="solid"/>
            <a:headEnd type="triangle"/>
            <a:tailEnd type="triangle"/>
          </a:ln>
        </p:spPr>
      </p:sp>
      <p:sp>
        <p:nvSpPr>
          <p:cNvPr id="26" name="Text 24"/>
          <p:cNvSpPr/>
          <p:nvPr/>
        </p:nvSpPr>
        <p:spPr>
          <a:xfrm>
            <a:off x="3017520" y="3474720"/>
            <a:ext cx="5029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~150–200 nt between the Cell BC/UMI end and the CloneTracker barcode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548640" y="4251960"/>
            <a:ext cx="11064240" cy="2194560"/>
          </a:xfrm>
          <a:prstGeom prst="rect">
            <a:avLst/>
          </a:prstGeom>
          <a:solidFill>
            <a:srgbClr val="FBF4EF"/>
          </a:solidFill>
          <a:ln w="12700">
            <a:solidFill>
              <a:srgbClr val="B85042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548640" y="4251960"/>
            <a:ext cx="91440" cy="2194560"/>
          </a:xfrm>
          <a:prstGeom prst="rect">
            <a:avLst/>
          </a:prstGeom>
          <a:solidFill>
            <a:srgbClr val="B85042"/>
          </a:solidFill>
          <a:ln w="12700">
            <a:solidFill>
              <a:srgbClr val="B85042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822960" y="434340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B85042"/>
                </a:solidFill>
              </a:rPr>
              <a:t>The critical distance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822960" y="4663440"/>
            <a:ext cx="1069848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100"/>
              </a:spcAft>
              <a:buNone/>
            </a:pPr>
            <a:r>
              <a:rPr lang="en-US" sz="1300" b="1" dirty="0">
                <a:solidFill>
                  <a:srgbClr val="2B1E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Standard 10x Chromium 3' </a:t>
            </a:r>
            <a:pPr indent="0" marL="0">
              <a:spcAft>
                <a:spcPts val="100"/>
              </a:spcAft>
              <a:buNone/>
            </a:pPr>
            <a:r>
              <a:rPr lang="en-US" sz="1300" dirty="0">
                <a:solidFill>
                  <a:srgbClr val="2B1E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 1 captures only the Cell BC + UMI. </a:t>
            </a:r>
            <a:endParaRPr lang="en-US" sz="130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30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1300" b="1" dirty="0">
                <a:solidFill>
                  <a:srgbClr val="2B1E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Standard 10x Chromium 3' </a:t>
            </a:r>
            <a:pPr indent="0" marL="0">
              <a:spcAft>
                <a:spcPts val="100"/>
              </a:spcAft>
              <a:buNone/>
            </a:pPr>
            <a:r>
              <a:rPr lang="en-US" sz="1300" dirty="0">
                <a:solidFill>
                  <a:srgbClr val="2B1E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 2 reads into the cDNA from the adapter-ligated end but typically only </a:t>
            </a:r>
            <a:pPr indent="0" marL="0">
              <a:spcAft>
                <a:spcPts val="100"/>
              </a:spcAft>
              <a:buNone/>
            </a:pPr>
            <a:r>
              <a:rPr lang="en-US" sz="1300" b="1" dirty="0">
                <a:solidFill>
                  <a:srgbClr val="B9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~90–100 nt</a:t>
            </a:r>
            <a:pPr indent="0" marL="0">
              <a:spcAft>
                <a:spcPts val="100"/>
              </a:spcAft>
              <a:buNone/>
            </a:pPr>
            <a:r>
              <a:rPr lang="en-US" sz="1300" dirty="0">
                <a:solidFill>
                  <a:srgbClr val="2B1E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which is not enough to reach the CloneTracker barcode sitting 150–200 nt away.</a:t>
            </a:r>
            <a:endParaRPr lang="en-US" sz="130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30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1300" b="1" dirty="0">
                <a:solidFill>
                  <a:srgbClr val="B9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Result: </a:t>
            </a:r>
            <a:pPr indent="0" marL="0">
              <a:spcAft>
                <a:spcPts val="100"/>
              </a:spcAft>
              <a:buNone/>
            </a:pPr>
            <a:r>
              <a:rPr lang="en-US" sz="1300" i="1" dirty="0">
                <a:solidFill>
                  <a:srgbClr val="2B1E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vast majority of scRNA-Seq reads never sequence the CloneTracker barcode at all.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20040"/>
            <a:ext cx="640080" cy="640080"/>
          </a:xfrm>
          <a:prstGeom prst="ellipse">
            <a:avLst/>
          </a:prstGeom>
          <a:solidFill>
            <a:srgbClr val="B85042"/>
          </a:solidFill>
          <a:ln w="12700">
            <a:solidFill>
              <a:srgbClr val="B8504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32004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1234440" y="320040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2B1E1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 standard 10x scRNA-Seq actually reads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548640" y="114300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A4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the normal 10x workflow, after cDNA amplification the cDNA is fragmented, adapters are ligated, and sample index PCR is performed. The sequencer reads from two fixed positions — let's look at where they land relative to the CloneTracker barcode.</a:t>
            </a:r>
            <a:endParaRPr lang="en-US" sz="1250" dirty="0"/>
          </a:p>
        </p:txBody>
      </p:sp>
      <p:sp>
        <p:nvSpPr>
          <p:cNvPr id="6" name="Text 4"/>
          <p:cNvSpPr/>
          <p:nvPr/>
        </p:nvSpPr>
        <p:spPr>
          <a:xfrm>
            <a:off x="548640" y="201168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B850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 standard 10x library fragment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548640" y="2377440"/>
            <a:ext cx="822960" cy="548640"/>
          </a:xfrm>
          <a:prstGeom prst="rect">
            <a:avLst/>
          </a:prstGeom>
          <a:solidFill>
            <a:srgbClr val="16A085"/>
          </a:solidFill>
          <a:ln w="9525">
            <a:solidFill>
              <a:srgbClr val="222222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66928" y="2377440"/>
            <a:ext cx="78638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P5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1371600" y="2377440"/>
            <a:ext cx="1097280" cy="548640"/>
          </a:xfrm>
          <a:prstGeom prst="rect">
            <a:avLst/>
          </a:prstGeom>
          <a:solidFill>
            <a:srgbClr val="2A7A3A"/>
          </a:solidFill>
          <a:ln w="9525">
            <a:solidFill>
              <a:srgbClr val="222222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389888" y="2377440"/>
            <a:ext cx="106070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 1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2468880" y="2377440"/>
            <a:ext cx="1005840" cy="548640"/>
          </a:xfrm>
          <a:prstGeom prst="rect">
            <a:avLst/>
          </a:prstGeom>
          <a:solidFill>
            <a:srgbClr val="F0A830"/>
          </a:solidFill>
          <a:ln w="9525">
            <a:solidFill>
              <a:srgbClr val="222222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487168" y="2377440"/>
            <a:ext cx="96926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Cell BC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3474720" y="2377440"/>
            <a:ext cx="731520" cy="548640"/>
          </a:xfrm>
          <a:prstGeom prst="rect">
            <a:avLst/>
          </a:prstGeom>
          <a:solidFill>
            <a:srgbClr val="9B59B6"/>
          </a:solidFill>
          <a:ln w="9525">
            <a:solidFill>
              <a:srgbClr val="222222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493008" y="2377440"/>
            <a:ext cx="69494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UMI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4206240" y="2377440"/>
            <a:ext cx="3291840" cy="548640"/>
          </a:xfrm>
          <a:prstGeom prst="rect">
            <a:avLst/>
          </a:prstGeom>
          <a:solidFill>
            <a:srgbClr val="6B6B6B"/>
          </a:solidFill>
          <a:ln w="9525">
            <a:solidFill>
              <a:srgbClr val="222222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224528" y="2377440"/>
            <a:ext cx="325526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 cDNA fragment (~100–400 nt of 3'UTR)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7498080" y="2377440"/>
            <a:ext cx="1188720" cy="548640"/>
          </a:xfrm>
          <a:prstGeom prst="rect">
            <a:avLst/>
          </a:prstGeom>
          <a:solidFill>
            <a:srgbClr val="C0392B"/>
          </a:solidFill>
          <a:ln w="9525">
            <a:solidFill>
              <a:srgbClr val="222222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516368" y="2377440"/>
            <a:ext cx="115214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 2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8686800" y="2377440"/>
            <a:ext cx="731520" cy="548640"/>
          </a:xfrm>
          <a:prstGeom prst="rect">
            <a:avLst/>
          </a:prstGeom>
          <a:solidFill>
            <a:srgbClr val="16A085"/>
          </a:solidFill>
          <a:ln w="9525">
            <a:solidFill>
              <a:srgbClr val="222222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705088" y="2377440"/>
            <a:ext cx="69494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i7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9418320" y="2377440"/>
            <a:ext cx="731520" cy="548640"/>
          </a:xfrm>
          <a:prstGeom prst="rect">
            <a:avLst/>
          </a:prstGeom>
          <a:solidFill>
            <a:srgbClr val="16A085"/>
          </a:solidFill>
          <a:ln w="9525">
            <a:solidFill>
              <a:srgbClr val="222222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9436608" y="2377440"/>
            <a:ext cx="69494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P7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1371600" y="3108960"/>
            <a:ext cx="2103120" cy="0"/>
          </a:xfrm>
          <a:prstGeom prst="line">
            <a:avLst/>
          </a:prstGeom>
          <a:noFill/>
          <a:ln w="25400">
            <a:solidFill>
              <a:srgbClr val="2A7A3A"/>
            </a:solidFill>
            <a:prstDash val="solid"/>
            <a:tailEnd type="triangle"/>
          </a:ln>
        </p:spPr>
      </p:sp>
      <p:sp>
        <p:nvSpPr>
          <p:cNvPr id="24" name="Text 22"/>
          <p:cNvSpPr/>
          <p:nvPr/>
        </p:nvSpPr>
        <p:spPr>
          <a:xfrm>
            <a:off x="1005840" y="320040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A7A3A"/>
                </a:solidFill>
              </a:rPr>
              <a:t>Read 1 (28 nt) → reads Cell BC + UMI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7498080" y="3108960"/>
            <a:ext cx="2011680" cy="0"/>
          </a:xfrm>
          <a:prstGeom prst="line">
            <a:avLst/>
          </a:prstGeom>
          <a:noFill/>
          <a:ln w="25400">
            <a:solidFill>
              <a:srgbClr val="C0392B"/>
            </a:solidFill>
            <a:prstDash val="solid"/>
            <a:headEnd type="triangle"/>
          </a:ln>
        </p:spPr>
      </p:sp>
      <p:sp>
        <p:nvSpPr>
          <p:cNvPr id="26" name="Text 24"/>
          <p:cNvSpPr/>
          <p:nvPr/>
        </p:nvSpPr>
        <p:spPr>
          <a:xfrm>
            <a:off x="5303520" y="3200400"/>
            <a:ext cx="4389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C0392B"/>
                </a:solidFill>
              </a:rPr>
              <a:t>Read 2 (~90 nt) ← reads ~90 nt into the cDNA fragment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548640" y="397764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B1E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the CloneTracker barcode sits in the ORIGINAL transcript: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548640" y="4343400"/>
            <a:ext cx="1097280" cy="502920"/>
          </a:xfrm>
          <a:prstGeom prst="rect">
            <a:avLst/>
          </a:prstGeom>
          <a:solidFill>
            <a:srgbClr val="2B2B2B"/>
          </a:solidFill>
          <a:ln w="9525">
            <a:solidFill>
              <a:srgbClr val="222222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66928" y="4343400"/>
            <a:ext cx="106070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polyA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1645920" y="4343400"/>
            <a:ext cx="2286000" cy="502920"/>
          </a:xfrm>
          <a:prstGeom prst="rect">
            <a:avLst/>
          </a:prstGeom>
          <a:solidFill>
            <a:srgbClr val="6B6B6B"/>
          </a:solidFill>
          <a:ln w="9525">
            <a:solidFill>
              <a:srgbClr val="222222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1664208" y="4343400"/>
            <a:ext cx="224942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3'UTR (~90 nt)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3931920" y="4343400"/>
            <a:ext cx="1828800" cy="502920"/>
          </a:xfrm>
          <a:prstGeom prst="rect">
            <a:avLst/>
          </a:prstGeom>
          <a:solidFill>
            <a:srgbClr val="E85D5D"/>
          </a:solidFill>
          <a:ln w="9525">
            <a:solidFill>
              <a:srgbClr val="222222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3950208" y="4343400"/>
            <a:ext cx="179222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CloneTracker BC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5760720" y="4343400"/>
            <a:ext cx="1371600" cy="502920"/>
          </a:xfrm>
          <a:prstGeom prst="rect">
            <a:avLst/>
          </a:prstGeom>
          <a:solidFill>
            <a:srgbClr val="6B6B6B"/>
          </a:solidFill>
          <a:ln w="9525">
            <a:solidFill>
              <a:srgbClr val="222222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5779008" y="4343400"/>
            <a:ext cx="133502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3'UTR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7132320" y="4343400"/>
            <a:ext cx="2377440" cy="502920"/>
          </a:xfrm>
          <a:prstGeom prst="rect">
            <a:avLst/>
          </a:prstGeom>
          <a:solidFill>
            <a:srgbClr val="4A90D9"/>
          </a:solidFill>
          <a:ln w="9525">
            <a:solidFill>
              <a:srgbClr val="222222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7150608" y="4343400"/>
            <a:ext cx="234086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PuroR–2A–Reporter</a:t>
            </a:r>
            <a:endParaRPr lang="en-US" sz="1100" dirty="0"/>
          </a:p>
        </p:txBody>
      </p:sp>
      <p:sp>
        <p:nvSpPr>
          <p:cNvPr id="38" name="Shape 36"/>
          <p:cNvSpPr/>
          <p:nvPr/>
        </p:nvSpPr>
        <p:spPr>
          <a:xfrm>
            <a:off x="548640" y="4297680"/>
            <a:ext cx="2560320" cy="594360"/>
          </a:xfrm>
          <a:prstGeom prst="rect">
            <a:avLst/>
          </a:prstGeom>
          <a:solidFill>
            <a:srgbClr val="C0392B">
              <a:alpha val="30000"/>
            </a:srgbClr>
          </a:solidFill>
          <a:ln w="19050">
            <a:solidFill>
              <a:srgbClr val="C0392B"/>
            </a:solidFill>
            <a:prstDash val="dash"/>
          </a:ln>
        </p:spPr>
      </p:sp>
      <p:sp>
        <p:nvSpPr>
          <p:cNvPr id="39" name="Text 37"/>
          <p:cNvSpPr/>
          <p:nvPr/>
        </p:nvSpPr>
        <p:spPr>
          <a:xfrm>
            <a:off x="548640" y="4956048"/>
            <a:ext cx="2926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i="1" dirty="0">
                <a:solidFill>
                  <a:srgbClr val="C0392B"/>
                </a:solidFill>
              </a:rPr>
              <a:t>← Read 2 typically only reaches here</a:t>
            </a:r>
            <a:endParaRPr lang="en-US" sz="1000" dirty="0"/>
          </a:p>
        </p:txBody>
      </p:sp>
      <p:sp>
        <p:nvSpPr>
          <p:cNvPr id="40" name="Shape 38"/>
          <p:cNvSpPr/>
          <p:nvPr/>
        </p:nvSpPr>
        <p:spPr>
          <a:xfrm>
            <a:off x="3108960" y="4594860"/>
            <a:ext cx="822960" cy="0"/>
          </a:xfrm>
          <a:prstGeom prst="line">
            <a:avLst/>
          </a:prstGeom>
          <a:noFill/>
          <a:ln w="25400">
            <a:solidFill>
              <a:srgbClr val="B91C1C"/>
            </a:solidFill>
            <a:prstDash val="dash"/>
            <a:tailEnd type="triangle"/>
          </a:ln>
        </p:spPr>
      </p:sp>
      <p:sp>
        <p:nvSpPr>
          <p:cNvPr id="41" name="Text 39"/>
          <p:cNvSpPr/>
          <p:nvPr/>
        </p:nvSpPr>
        <p:spPr>
          <a:xfrm>
            <a:off x="3017520" y="4956048"/>
            <a:ext cx="1371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i="1" dirty="0">
                <a:solidFill>
                  <a:srgbClr val="B91C1C"/>
                </a:solidFill>
              </a:rPr>
              <a:t>GAP — ~50–100 nt unread</a:t>
            </a:r>
            <a:endParaRPr lang="en-US" sz="900" dirty="0"/>
          </a:p>
        </p:txBody>
      </p:sp>
      <p:sp>
        <p:nvSpPr>
          <p:cNvPr id="42" name="Shape 40"/>
          <p:cNvSpPr/>
          <p:nvPr/>
        </p:nvSpPr>
        <p:spPr>
          <a:xfrm>
            <a:off x="548640" y="5806440"/>
            <a:ext cx="11064240" cy="685800"/>
          </a:xfrm>
          <a:prstGeom prst="rect">
            <a:avLst/>
          </a:prstGeom>
          <a:solidFill>
            <a:srgbClr val="FDECEA"/>
          </a:solidFill>
          <a:ln w="15240">
            <a:solidFill>
              <a:srgbClr val="B91C1C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548640" y="580644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i="1" dirty="0">
                <a:solidFill>
                  <a:srgbClr val="B9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CloneTracker barcode sits in a blind spot of the standard 10x read structure.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20040"/>
            <a:ext cx="640080" cy="640080"/>
          </a:xfrm>
          <a:prstGeom prst="ellipse">
            <a:avLst/>
          </a:prstGeom>
          <a:solidFill>
            <a:srgbClr val="B85042"/>
          </a:solidFill>
          <a:ln w="12700">
            <a:solidFill>
              <a:srgbClr val="B8504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32004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1234440" y="320040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2B1E1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Why recovery drops off a cliff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548640" y="114300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A4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Even if an occasional read fragment does happen to span the barcode, a standard scRNA-Seq library is being sequenced at a fixed budget of reads per cell, almost all of which go to other transcripts. The math is unforgiving: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548640" y="1965960"/>
            <a:ext cx="3566160" cy="1828800"/>
          </a:xfrm>
          <a:prstGeom prst="rect">
            <a:avLst/>
          </a:prstGeom>
          <a:solidFill>
            <a:srgbClr val="FBF4EF"/>
          </a:solidFill>
          <a:ln w="12700">
            <a:solidFill>
              <a:srgbClr val="B8504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8640" y="2194560"/>
            <a:ext cx="35661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B8504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 in ~10,000</a:t>
            </a:r>
            <a:endParaRPr lang="en-US" sz="3800" dirty="0"/>
          </a:p>
        </p:txBody>
      </p:sp>
      <p:sp>
        <p:nvSpPr>
          <p:cNvPr id="8" name="Text 6"/>
          <p:cNvSpPr/>
          <p:nvPr/>
        </p:nvSpPr>
        <p:spPr>
          <a:xfrm>
            <a:off x="731520" y="3017520"/>
            <a:ext cx="3200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2B1E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transcripts per cell carries the CloneTracker barcode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297680" y="1965960"/>
            <a:ext cx="3566160" cy="1828800"/>
          </a:xfrm>
          <a:prstGeom prst="rect">
            <a:avLst/>
          </a:prstGeom>
          <a:solidFill>
            <a:srgbClr val="FBF4EF"/>
          </a:solidFill>
          <a:ln w="12700">
            <a:solidFill>
              <a:srgbClr val="B85042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297680" y="2194560"/>
            <a:ext cx="35661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B8504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~20,000</a:t>
            </a:r>
            <a:endParaRPr lang="en-US" sz="4000" dirty="0"/>
          </a:p>
        </p:txBody>
      </p:sp>
      <p:sp>
        <p:nvSpPr>
          <p:cNvPr id="11" name="Text 9"/>
          <p:cNvSpPr/>
          <p:nvPr/>
        </p:nvSpPr>
        <p:spPr>
          <a:xfrm>
            <a:off x="4480560" y="3017520"/>
            <a:ext cx="3200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2B1E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typical reads per cell in a 10x run — divided across thousands of genes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8046720" y="1965960"/>
            <a:ext cx="3566160" cy="1828800"/>
          </a:xfrm>
          <a:prstGeom prst="rect">
            <a:avLst/>
          </a:prstGeom>
          <a:solidFill>
            <a:srgbClr val="FDECEA"/>
          </a:solidFill>
          <a:ln w="15240">
            <a:solidFill>
              <a:srgbClr val="B91C1C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046720" y="2194560"/>
            <a:ext cx="35661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B91C1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&lt;10%</a:t>
            </a:r>
            <a:endParaRPr lang="en-US" sz="4400" dirty="0"/>
          </a:p>
        </p:txBody>
      </p:sp>
      <p:sp>
        <p:nvSpPr>
          <p:cNvPr id="14" name="Text 12"/>
          <p:cNvSpPr/>
          <p:nvPr/>
        </p:nvSpPr>
        <p:spPr>
          <a:xfrm>
            <a:off x="8229600" y="3017520"/>
            <a:ext cx="3200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2B1E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cells end up with a confidently-assigned clonal barcode in published scRNA-only attempts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548640" y="4023360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B1E1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Why the recovery is so low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548640" y="4389120"/>
            <a:ext cx="1106424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200"/>
              </a:spcAft>
              <a:buNone/>
            </a:pPr>
            <a:r>
              <a:rPr lang="en-US" sz="1200" b="1" dirty="0">
                <a:solidFill>
                  <a:srgbClr val="B9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Read 2 doesn't reach the barcode  </a:t>
            </a:r>
            <a:pPr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rgbClr val="2B1E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~90 nt read from the polyA end falls short of the barcode at 150–200 nt.</a:t>
            </a:r>
            <a:endParaRPr lang="en-US" sz="12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4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2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200" b="1" dirty="0">
                <a:solidFill>
                  <a:srgbClr val="B9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Fragmentation is random  </a:t>
            </a:r>
            <a:pPr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rgbClr val="2B1E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only a small fraction of cDNA fragments happen to contain the barcode and still retain the cell-BC end.</a:t>
            </a:r>
            <a:endParaRPr lang="en-US" sz="12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4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2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200" b="1" dirty="0">
                <a:solidFill>
                  <a:srgbClr val="B9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Low transcript abundance  </a:t>
            </a:r>
            <a:pPr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rgbClr val="2B1E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the CloneTracker transcript is just one of thousands competing for sequencing reads.</a:t>
            </a:r>
            <a:endParaRPr lang="en-US" sz="12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4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2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200" b="1" dirty="0">
                <a:solidFill>
                  <a:srgbClr val="B9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scRNA-Seq capture dropout  </a:t>
            </a:r>
            <a:pPr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rgbClr val="2B1E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many cells don't capture the CloneTracker transcript at all due to inherent scRNA-Seq inefficiency.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20040"/>
            <a:ext cx="640080" cy="640080"/>
          </a:xfrm>
          <a:prstGeom prst="ellipse">
            <a:avLst/>
          </a:prstGeom>
          <a:solidFill>
            <a:srgbClr val="B85042"/>
          </a:solidFill>
          <a:ln w="12700">
            <a:solidFill>
              <a:srgbClr val="B8504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32004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1234440" y="320040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2B1E1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Failure modes — what the data looks like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548640" y="114300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4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you try to pull clonal barcodes directly from a standard scRNA-Seq dataset, these are the problems you'll see: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548640" y="1783080"/>
            <a:ext cx="5440680" cy="2331720"/>
          </a:xfrm>
          <a:prstGeom prst="rect">
            <a:avLst/>
          </a:prstGeom>
          <a:solidFill>
            <a:srgbClr val="FBF4EF"/>
          </a:solidFill>
          <a:ln w="12700">
            <a:solidFill>
              <a:srgbClr val="B85042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822960" y="2057400"/>
            <a:ext cx="640080" cy="640080"/>
          </a:xfrm>
          <a:prstGeom prst="ellipse">
            <a:avLst/>
          </a:prstGeom>
          <a:solidFill>
            <a:srgbClr val="B91C1C"/>
          </a:solidFill>
          <a:ln w="12700">
            <a:solidFill>
              <a:srgbClr val="B91C1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22960" y="205740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1600200" y="2103120"/>
            <a:ext cx="4206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B1E1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Massive dropout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822960" y="2834640"/>
            <a:ext cx="49377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A4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a small fraction of your cells have any barcode reads at all. You can't assign clonal identity to most cells — you're reduced to analyzing a biased subset.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172200" y="1783080"/>
            <a:ext cx="5440680" cy="2331720"/>
          </a:xfrm>
          <a:prstGeom prst="rect">
            <a:avLst/>
          </a:prstGeom>
          <a:solidFill>
            <a:srgbClr val="FBF4EF"/>
          </a:solidFill>
          <a:ln w="12700">
            <a:solidFill>
              <a:srgbClr val="B85042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446520" y="2057400"/>
            <a:ext cx="640080" cy="640080"/>
          </a:xfrm>
          <a:prstGeom prst="ellipse">
            <a:avLst/>
          </a:prstGeom>
          <a:solidFill>
            <a:srgbClr val="B91C1C"/>
          </a:solidFill>
          <a:ln w="12700">
            <a:solidFill>
              <a:srgbClr val="B91C1C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446520" y="205740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✂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7223760" y="2103120"/>
            <a:ext cx="4206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B1E1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Partial barcode reads</a:t>
            </a:r>
            <a:endParaRPr lang="en-US" sz="1700" dirty="0"/>
          </a:p>
        </p:txBody>
      </p:sp>
      <p:sp>
        <p:nvSpPr>
          <p:cNvPr id="15" name="Text 13"/>
          <p:cNvSpPr/>
          <p:nvPr/>
        </p:nvSpPr>
        <p:spPr>
          <a:xfrm>
            <a:off x="6446520" y="2834640"/>
            <a:ext cx="49377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A4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Reads that do reach the barcode region often only cover part of it. A 30-nt barcode truncated to 15 nt loses specificity and can be mis-assigned to the wrong clone.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548640" y="4206240"/>
            <a:ext cx="5440680" cy="2331720"/>
          </a:xfrm>
          <a:prstGeom prst="rect">
            <a:avLst/>
          </a:prstGeom>
          <a:solidFill>
            <a:srgbClr val="FBF4EF"/>
          </a:solidFill>
          <a:ln w="12700">
            <a:solidFill>
              <a:srgbClr val="B85042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822960" y="4480560"/>
            <a:ext cx="640080" cy="640080"/>
          </a:xfrm>
          <a:prstGeom prst="ellipse">
            <a:avLst/>
          </a:prstGeom>
          <a:solidFill>
            <a:srgbClr val="B91C1C"/>
          </a:solidFill>
          <a:ln w="12700">
            <a:solidFill>
              <a:srgbClr val="B91C1C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22960" y="448056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</a:t>
            </a:r>
            <a:endParaRPr lang="en-US" sz="2200" dirty="0"/>
          </a:p>
        </p:txBody>
      </p:sp>
      <p:sp>
        <p:nvSpPr>
          <p:cNvPr id="19" name="Text 17"/>
          <p:cNvSpPr/>
          <p:nvPr/>
        </p:nvSpPr>
        <p:spPr>
          <a:xfrm>
            <a:off x="1600200" y="4526280"/>
            <a:ext cx="4206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B1E1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No UMI collapse for errors</a:t>
            </a:r>
            <a:endParaRPr lang="en-US" sz="1700" dirty="0"/>
          </a:p>
        </p:txBody>
      </p:sp>
      <p:sp>
        <p:nvSpPr>
          <p:cNvPr id="20" name="Text 18"/>
          <p:cNvSpPr/>
          <p:nvPr/>
        </p:nvSpPr>
        <p:spPr>
          <a:xfrm>
            <a:off x="822960" y="5257800"/>
            <a:ext cx="49377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A4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 so few reads supporting each cell → clone call, PCR and sequencing errors aren't averaged out. False positives appear as "new" clones that don't really exist.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6172200" y="4206240"/>
            <a:ext cx="5440680" cy="2331720"/>
          </a:xfrm>
          <a:prstGeom prst="rect">
            <a:avLst/>
          </a:prstGeom>
          <a:solidFill>
            <a:srgbClr val="FBF4EF"/>
          </a:solidFill>
          <a:ln w="12700">
            <a:solidFill>
              <a:srgbClr val="B85042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6446520" y="4480560"/>
            <a:ext cx="640080" cy="640080"/>
          </a:xfrm>
          <a:prstGeom prst="ellipse">
            <a:avLst/>
          </a:prstGeom>
          <a:solidFill>
            <a:srgbClr val="B91C1C"/>
          </a:solidFill>
          <a:ln w="12700">
            <a:solidFill>
              <a:srgbClr val="B91C1C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446520" y="448056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👻</a:t>
            </a:r>
            <a:endParaRPr lang="en-US" sz="2200" dirty="0"/>
          </a:p>
        </p:txBody>
      </p:sp>
      <p:sp>
        <p:nvSpPr>
          <p:cNvPr id="24" name="Text 22"/>
          <p:cNvSpPr/>
          <p:nvPr/>
        </p:nvSpPr>
        <p:spPr>
          <a:xfrm>
            <a:off x="7223760" y="4526280"/>
            <a:ext cx="4206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B1E1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Silent sample loss</a:t>
            </a:r>
            <a:endParaRPr lang="en-US" sz="1700" dirty="0"/>
          </a:p>
        </p:txBody>
      </p:sp>
      <p:sp>
        <p:nvSpPr>
          <p:cNvPr id="25" name="Text 23"/>
          <p:cNvSpPr/>
          <p:nvPr/>
        </p:nvSpPr>
        <p:spPr>
          <a:xfrm>
            <a:off x="6446520" y="5257800"/>
            <a:ext cx="49377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A4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Untagged cells (that never got a lentivirus) and cells where the barcode simply wasn't captured look identical in the data — you can't tell them apart.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20040"/>
            <a:ext cx="640080" cy="640080"/>
          </a:xfrm>
          <a:prstGeom prst="ellipse">
            <a:avLst/>
          </a:prstGeom>
          <a:solidFill>
            <a:srgbClr val="B85042"/>
          </a:solidFill>
          <a:ln w="12700">
            <a:solidFill>
              <a:srgbClr val="B8504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32004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1234440" y="320040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2B1E1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Side-by-side: with vs. without targeted enrichment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548640" y="1188720"/>
            <a:ext cx="5486400" cy="457200"/>
          </a:xfrm>
          <a:prstGeom prst="rect">
            <a:avLst/>
          </a:prstGeom>
          <a:solidFill>
            <a:srgbClr val="B91C1C"/>
          </a:solidFill>
          <a:ln w="12700">
            <a:solidFill>
              <a:srgbClr val="B91C1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1188720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Standard scRNA-Seq only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6126480" y="1188720"/>
            <a:ext cx="5486400" cy="457200"/>
          </a:xfrm>
          <a:prstGeom prst="rect">
            <a:avLst/>
          </a:prstGeom>
          <a:solidFill>
            <a:srgbClr val="2F7D4F"/>
          </a:solidFill>
          <a:ln w="12700">
            <a:solidFill>
              <a:srgbClr val="2F7D4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126480" y="1188720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With targeted PCR enrichment (Cellecta protocol)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548640" y="1737360"/>
            <a:ext cx="11064240" cy="502920"/>
          </a:xfrm>
          <a:prstGeom prst="rect">
            <a:avLst/>
          </a:prstGeom>
          <a:solidFill>
            <a:srgbClr val="FFFFFF"/>
          </a:solidFill>
          <a:ln w="6350">
            <a:solidFill>
              <a:srgbClr val="E8DCD6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48640" y="1737360"/>
            <a:ext cx="2743200" cy="502920"/>
          </a:xfrm>
          <a:prstGeom prst="rect">
            <a:avLst/>
          </a:prstGeom>
          <a:noFill/>
          <a:ln/>
        </p:spPr>
        <p:txBody>
          <a:bodyPr wrap="square" lIns="1270" tIns="1270" rIns="1270" bIns="127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B1E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Barcode recovery per cell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3383280" y="1737360"/>
            <a:ext cx="2651760" cy="502920"/>
          </a:xfrm>
          <a:prstGeom prst="rect">
            <a:avLst/>
          </a:prstGeom>
          <a:noFill/>
          <a:ln/>
        </p:spPr>
        <p:txBody>
          <a:bodyPr wrap="square" lIns="1270" tIns="1270" rIns="1270" bIns="127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9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&lt; 10%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6126480" y="1737360"/>
            <a:ext cx="5486400" cy="502920"/>
          </a:xfrm>
          <a:prstGeom prst="rect">
            <a:avLst/>
          </a:prstGeom>
          <a:noFill/>
          <a:ln/>
        </p:spPr>
        <p:txBody>
          <a:bodyPr wrap="square" lIns="1270" tIns="1270" rIns="1270" bIns="127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F7D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60–90%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548640" y="2240280"/>
            <a:ext cx="11064240" cy="502920"/>
          </a:xfrm>
          <a:prstGeom prst="rect">
            <a:avLst/>
          </a:prstGeom>
          <a:solidFill>
            <a:srgbClr val="F7F3F0"/>
          </a:solidFill>
          <a:ln w="6350">
            <a:solidFill>
              <a:srgbClr val="E8DCD6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48640" y="2240280"/>
            <a:ext cx="2743200" cy="502920"/>
          </a:xfrm>
          <a:prstGeom prst="rect">
            <a:avLst/>
          </a:prstGeom>
          <a:noFill/>
          <a:ln/>
        </p:spPr>
        <p:txBody>
          <a:bodyPr wrap="square" lIns="1270" tIns="1270" rIns="1270" bIns="127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B1E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Full-length barcode capture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3383280" y="2240280"/>
            <a:ext cx="2651760" cy="502920"/>
          </a:xfrm>
          <a:prstGeom prst="rect">
            <a:avLst/>
          </a:prstGeom>
          <a:noFill/>
          <a:ln/>
        </p:spPr>
        <p:txBody>
          <a:bodyPr wrap="square" lIns="1270" tIns="1270" rIns="1270" bIns="127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9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Rare / partial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6126480" y="2240280"/>
            <a:ext cx="5486400" cy="502920"/>
          </a:xfrm>
          <a:prstGeom prst="rect">
            <a:avLst/>
          </a:prstGeom>
          <a:noFill/>
          <a:ln/>
        </p:spPr>
        <p:txBody>
          <a:bodyPr wrap="square" lIns="1270" tIns="1270" rIns="1270" bIns="127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F7D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Consistent full-length reads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548640" y="2743200"/>
            <a:ext cx="11064240" cy="502920"/>
          </a:xfrm>
          <a:prstGeom prst="rect">
            <a:avLst/>
          </a:prstGeom>
          <a:solidFill>
            <a:srgbClr val="FFFFFF"/>
          </a:solidFill>
          <a:ln w="6350">
            <a:solidFill>
              <a:srgbClr val="E8DCD6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48640" y="2743200"/>
            <a:ext cx="2743200" cy="502920"/>
          </a:xfrm>
          <a:prstGeom prst="rect">
            <a:avLst/>
          </a:prstGeom>
          <a:noFill/>
          <a:ln/>
        </p:spPr>
        <p:txBody>
          <a:bodyPr wrap="square" lIns="1270" tIns="1270" rIns="1270" bIns="127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B1E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Reads per barcode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3383280" y="2743200"/>
            <a:ext cx="2651760" cy="502920"/>
          </a:xfrm>
          <a:prstGeom prst="rect">
            <a:avLst/>
          </a:prstGeom>
          <a:noFill/>
          <a:ln/>
        </p:spPr>
        <p:txBody>
          <a:bodyPr wrap="square" lIns="1270" tIns="1270" rIns="1270" bIns="127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9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1–2 (noise-prone)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6126480" y="2743200"/>
            <a:ext cx="5486400" cy="502920"/>
          </a:xfrm>
          <a:prstGeom prst="rect">
            <a:avLst/>
          </a:prstGeom>
          <a:noFill/>
          <a:ln/>
        </p:spPr>
        <p:txBody>
          <a:bodyPr wrap="square" lIns="1270" tIns="1270" rIns="1270" bIns="127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F7D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Dozens (error-correctable)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548640" y="3246120"/>
            <a:ext cx="11064240" cy="502920"/>
          </a:xfrm>
          <a:prstGeom prst="rect">
            <a:avLst/>
          </a:prstGeom>
          <a:solidFill>
            <a:srgbClr val="F7F3F0"/>
          </a:solidFill>
          <a:ln w="6350">
            <a:solidFill>
              <a:srgbClr val="E8DCD6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48640" y="3246120"/>
            <a:ext cx="2743200" cy="502920"/>
          </a:xfrm>
          <a:prstGeom prst="rect">
            <a:avLst/>
          </a:prstGeom>
          <a:noFill/>
          <a:ln/>
        </p:spPr>
        <p:txBody>
          <a:bodyPr wrap="square" lIns="1270" tIns="1270" rIns="1270" bIns="127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B1E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 structure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3383280" y="3246120"/>
            <a:ext cx="2651760" cy="502920"/>
          </a:xfrm>
          <a:prstGeom prst="rect">
            <a:avLst/>
          </a:prstGeom>
          <a:noFill/>
          <a:ln/>
        </p:spPr>
        <p:txBody>
          <a:bodyPr wrap="square" lIns="1270" tIns="1270" rIns="1270" bIns="127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9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Standard 10x R1/R2 misses the barcode region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6126480" y="3246120"/>
            <a:ext cx="5486400" cy="502920"/>
          </a:xfrm>
          <a:prstGeom prst="rect">
            <a:avLst/>
          </a:prstGeom>
          <a:noFill/>
          <a:ln/>
        </p:spPr>
        <p:txBody>
          <a:bodyPr wrap="square" lIns="1270" tIns="1270" rIns="1270" bIns="127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F7D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 2 directly sequences the CloneTracker BC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548640" y="3749040"/>
            <a:ext cx="11064240" cy="502920"/>
          </a:xfrm>
          <a:prstGeom prst="rect">
            <a:avLst/>
          </a:prstGeom>
          <a:solidFill>
            <a:srgbClr val="FFFFFF"/>
          </a:solidFill>
          <a:ln w="6350">
            <a:solidFill>
              <a:srgbClr val="E8DCD6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48640" y="3749040"/>
            <a:ext cx="2743200" cy="502920"/>
          </a:xfrm>
          <a:prstGeom prst="rect">
            <a:avLst/>
          </a:prstGeom>
          <a:noFill/>
          <a:ln/>
        </p:spPr>
        <p:txBody>
          <a:bodyPr wrap="square" lIns="1270" tIns="1270" rIns="1270" bIns="127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B1E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Extra lab work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3383280" y="3749040"/>
            <a:ext cx="2651760" cy="502920"/>
          </a:xfrm>
          <a:prstGeom prst="rect">
            <a:avLst/>
          </a:prstGeom>
          <a:noFill/>
          <a:ln/>
        </p:spPr>
        <p:txBody>
          <a:bodyPr wrap="square" lIns="1270" tIns="1270" rIns="1270" bIns="127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9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None — but data is unusable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6126480" y="3749040"/>
            <a:ext cx="5486400" cy="502920"/>
          </a:xfrm>
          <a:prstGeom prst="rect">
            <a:avLst/>
          </a:prstGeom>
          <a:noFill/>
          <a:ln/>
        </p:spPr>
        <p:txBody>
          <a:bodyPr wrap="square" lIns="1270" tIns="1270" rIns="1270" bIns="127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F7D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extra PCR + separate indexing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548640" y="4251960"/>
            <a:ext cx="11064240" cy="502920"/>
          </a:xfrm>
          <a:prstGeom prst="rect">
            <a:avLst/>
          </a:prstGeom>
          <a:solidFill>
            <a:srgbClr val="F7F3F0"/>
          </a:solidFill>
          <a:ln w="6350">
            <a:solidFill>
              <a:srgbClr val="E8DCD6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548640" y="4251960"/>
            <a:ext cx="2743200" cy="502920"/>
          </a:xfrm>
          <a:prstGeom prst="rect">
            <a:avLst/>
          </a:prstGeom>
          <a:noFill/>
          <a:ln/>
        </p:spPr>
        <p:txBody>
          <a:bodyPr wrap="square" lIns="1270" tIns="1270" rIns="1270" bIns="127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B1E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Extra sequencing cost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3383280" y="4251960"/>
            <a:ext cx="2651760" cy="502920"/>
          </a:xfrm>
          <a:prstGeom prst="rect">
            <a:avLst/>
          </a:prstGeom>
          <a:noFill/>
          <a:ln/>
        </p:spPr>
        <p:txBody>
          <a:bodyPr wrap="square" lIns="1270" tIns="1270" rIns="1270" bIns="127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9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None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6126480" y="4251960"/>
            <a:ext cx="5486400" cy="502920"/>
          </a:xfrm>
          <a:prstGeom prst="rect">
            <a:avLst/>
          </a:prstGeom>
          <a:noFill/>
          <a:ln/>
        </p:spPr>
        <p:txBody>
          <a:bodyPr wrap="square" lIns="1270" tIns="1270" rIns="1270" bIns="127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F7D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~10% of total (pool at 9:1)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548640" y="4754880"/>
            <a:ext cx="11064240" cy="502920"/>
          </a:xfrm>
          <a:prstGeom prst="rect">
            <a:avLst/>
          </a:prstGeom>
          <a:solidFill>
            <a:srgbClr val="FFFFFF"/>
          </a:solidFill>
          <a:ln w="6350">
            <a:solidFill>
              <a:srgbClr val="E8DCD6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548640" y="4754880"/>
            <a:ext cx="2743200" cy="502920"/>
          </a:xfrm>
          <a:prstGeom prst="rect">
            <a:avLst/>
          </a:prstGeom>
          <a:noFill/>
          <a:ln/>
        </p:spPr>
        <p:txBody>
          <a:bodyPr wrap="square" lIns="1270" tIns="1270" rIns="1270" bIns="127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B1E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Clone → cell assignment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3383280" y="4754880"/>
            <a:ext cx="2651760" cy="502920"/>
          </a:xfrm>
          <a:prstGeom prst="rect">
            <a:avLst/>
          </a:prstGeom>
          <a:noFill/>
          <a:ln/>
        </p:spPr>
        <p:txBody>
          <a:bodyPr wrap="square" lIns="1270" tIns="1270" rIns="1270" bIns="127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9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Unreliable, biased subset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6126480" y="4754880"/>
            <a:ext cx="5486400" cy="502920"/>
          </a:xfrm>
          <a:prstGeom prst="rect">
            <a:avLst/>
          </a:prstGeom>
          <a:noFill/>
          <a:ln/>
        </p:spPr>
        <p:txBody>
          <a:bodyPr wrap="square" lIns="1270" tIns="1270" rIns="1270" bIns="127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F7D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High-confidence, most cells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20040"/>
            <a:ext cx="640080" cy="640080"/>
          </a:xfrm>
          <a:prstGeom prst="ellipse">
            <a:avLst/>
          </a:prstGeom>
          <a:solidFill>
            <a:srgbClr val="B85042"/>
          </a:solidFill>
          <a:ln w="12700">
            <a:solidFill>
              <a:srgbClr val="B8504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32004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6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1234440" y="320040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2B1E1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When might scRNA-Seq alone actually suffice?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548640" y="114300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4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very narrow circumstances, you might get usable clonal information from standard scRNA-Seq without targeted enrichment. These are the exceptions, not the rule.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548640" y="1920240"/>
            <a:ext cx="3566160" cy="2926080"/>
          </a:xfrm>
          <a:prstGeom prst="rect">
            <a:avLst/>
          </a:prstGeom>
          <a:solidFill>
            <a:srgbClr val="FFFBEE"/>
          </a:solidFill>
          <a:ln w="15240">
            <a:solidFill>
              <a:srgbClr val="D97706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48640" y="1920240"/>
            <a:ext cx="3566160" cy="91440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31520" y="2148840"/>
            <a:ext cx="3200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B1E1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Very few, very distinct clones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731520" y="3017520"/>
            <a:ext cx="32004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A4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you only have ~10–20 founder clones and each has many progeny, even a handful of reads per cell may be enough to assign clonal identity — partial barcodes still disambiguate between such a small set.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4297680" y="1920240"/>
            <a:ext cx="3566160" cy="2926080"/>
          </a:xfrm>
          <a:prstGeom prst="rect">
            <a:avLst/>
          </a:prstGeom>
          <a:solidFill>
            <a:srgbClr val="FFFBEE"/>
          </a:solidFill>
          <a:ln w="15240">
            <a:solidFill>
              <a:srgbClr val="D97706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297680" y="1920240"/>
            <a:ext cx="3566160" cy="91440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480560" y="2148840"/>
            <a:ext cx="3200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B1E1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Ultra-deep sequencing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4480560" y="3017520"/>
            <a:ext cx="32004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A4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you sequence at 5–10× the normal depth per cell and accept the extra cost, you'll sample enough of the tail of each cell's transcripts to occasionally read the barcode region. Wasteful, but possible.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8046720" y="1920240"/>
            <a:ext cx="3566160" cy="2926080"/>
          </a:xfrm>
          <a:prstGeom prst="rect">
            <a:avLst/>
          </a:prstGeom>
          <a:solidFill>
            <a:srgbClr val="FFFBEE"/>
          </a:solidFill>
          <a:ln w="15240">
            <a:solidFill>
              <a:srgbClr val="D97706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8046720" y="1920240"/>
            <a:ext cx="3566160" cy="91440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229600" y="2148840"/>
            <a:ext cx="3200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B1E1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Barcode-5' library designs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8229600" y="3017520"/>
            <a:ext cx="32004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A4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CloneTracker XP Barcode-5' vectors place the cassette at the 5' end of the transcript, where it's accessible to 10x 5' chemistry. This is a different product design — not a workaround for Barcode-3' libraries.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548640" y="5212080"/>
            <a:ext cx="11064240" cy="1280160"/>
          </a:xfrm>
          <a:prstGeom prst="rect">
            <a:avLst/>
          </a:prstGeom>
          <a:solidFill>
            <a:srgbClr val="2B1E1E"/>
          </a:solidFill>
          <a:ln w="12700">
            <a:solidFill>
              <a:srgbClr val="2B1E1E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22960" y="534924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8C9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Bottom line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822960" y="5669280"/>
            <a:ext cx="10515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Barcode-3' libraries with 1M or more clones — which is the overwhelmingly common use case — standard scRNA-Seq alone will NOT give reliable clonal assignment. The targeted PCR enrichment step is not optional; it is the whole reason Cellecta includes Section 6.1 in the manual.</a:t>
            </a:r>
            <a:endParaRPr lang="en-US" sz="13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2B1E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Takeaway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1143000"/>
            <a:ext cx="1371600" cy="54864"/>
          </a:xfrm>
          <a:prstGeom prst="rect">
            <a:avLst/>
          </a:prstGeom>
          <a:solidFill>
            <a:srgbClr val="B85042"/>
          </a:solidFill>
          <a:ln w="12700">
            <a:solidFill>
              <a:srgbClr val="B85042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31520" y="1554480"/>
            <a:ext cx="106984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i="1" dirty="0">
                <a:solidFill>
                  <a:srgbClr val="FFE4D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"Running scRNA-Seq without the targeted PCR step doesn't fail loudly —</a:t>
            </a:r>
            <a:endParaRPr lang="en-US" sz="2000" dirty="0"/>
          </a:p>
          <a:p>
            <a:pPr indent="0" marL="0">
              <a:buNone/>
            </a:pPr>
            <a:r>
              <a:rPr lang="en-US" sz="2000" i="1" dirty="0">
                <a:solidFill>
                  <a:srgbClr val="FFE4D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it fails silently, by just not seeing most of the clonal barcodes."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548640" y="3108960"/>
            <a:ext cx="5440680" cy="3200400"/>
          </a:xfrm>
          <a:prstGeom prst="rect">
            <a:avLst/>
          </a:prstGeom>
          <a:solidFill>
            <a:srgbClr val="3A2626"/>
          </a:solidFill>
          <a:ln w="12700">
            <a:solidFill>
              <a:srgbClr val="B91C1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31520" y="3246120"/>
            <a:ext cx="5029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scRNA-Seq only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731520" y="3703320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B85042"/>
                </a:solidFill>
              </a:rPr>
              <a:t>Use when: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731520" y="3977640"/>
            <a:ext cx="50292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300"/>
              </a:spcAft>
              <a:buNone/>
            </a:pPr>
            <a:r>
              <a:rPr lang="en-US" sz="1200" dirty="0">
                <a:solidFill>
                  <a:srgbClr val="E8C9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Very small clonal pool (&lt; ~20 clones)</a:t>
            </a:r>
            <a:endParaRPr lang="en-US" sz="12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200" dirty="0">
                <a:solidFill>
                  <a:srgbClr val="E8C9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Using a Barcode-5' library + 10x 5' chemistry</a:t>
            </a:r>
            <a:endParaRPr lang="en-US" sz="12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200" dirty="0">
                <a:solidFill>
                  <a:srgbClr val="E8C9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Ultra-deep sequencing already planned</a:t>
            </a:r>
            <a:endParaRPr lang="en-US" sz="12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200" dirty="0">
                <a:solidFill>
                  <a:srgbClr val="E8C9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Proof-of-concept / pilot only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731520" y="5760720"/>
            <a:ext cx="5029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i="1" dirty="0">
                <a:solidFill>
                  <a:srgbClr val="B9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Expect: &lt; 10% cells assigned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6172200" y="3108960"/>
            <a:ext cx="5440680" cy="3200400"/>
          </a:xfrm>
          <a:prstGeom prst="rect">
            <a:avLst/>
          </a:prstGeom>
          <a:solidFill>
            <a:srgbClr val="1F3A2A"/>
          </a:solidFill>
          <a:ln w="12700">
            <a:solidFill>
              <a:srgbClr val="2F7D4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355080" y="3246120"/>
            <a:ext cx="5029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scRNA-Seq + targeted PCR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6355080" y="3703320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7FD09E"/>
                </a:solidFill>
              </a:rPr>
              <a:t>Use when: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6355080" y="3977640"/>
            <a:ext cx="50292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300"/>
              </a:spcAft>
              <a:buNone/>
            </a:pPr>
            <a:r>
              <a:rPr lang="en-US" sz="1200" dirty="0">
                <a:solidFill>
                  <a:srgbClr val="D8EE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1M–50M CloneTracker XP library</a:t>
            </a:r>
            <a:endParaRPr lang="en-US" sz="12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200" dirty="0">
                <a:solidFill>
                  <a:srgbClr val="D8EE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Any standard 10x 3' v3.1 workflow</a:t>
            </a:r>
            <a:endParaRPr lang="en-US" sz="12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200" dirty="0">
                <a:solidFill>
                  <a:srgbClr val="D8EE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You need reliable clone → cell calls</a:t>
            </a:r>
            <a:endParaRPr lang="en-US" sz="12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200" dirty="0">
                <a:solidFill>
                  <a:srgbClr val="D8EE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Any publication-quality experiment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6355080" y="5760720"/>
            <a:ext cx="5029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i="1" dirty="0">
                <a:solidFill>
                  <a:srgbClr val="7FD0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Expect: 60–90% cells assigned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Barcode detection without targeted enrichment</dc:title>
  <dc:subject>PptxGenJS Presentation</dc:subject>
  <dc:creator>CloneTracker XP — scRNA-Seq only</dc:creator>
  <cp:lastModifiedBy>CloneTracker XP — scRNA-Seq only</cp:lastModifiedBy>
  <cp:revision>1</cp:revision>
  <dcterms:created xsi:type="dcterms:W3CDTF">2026-04-22T09:19:59Z</dcterms:created>
  <dcterms:modified xsi:type="dcterms:W3CDTF">2026-04-22T09:19:59Z</dcterms:modified>
</cp:coreProperties>
</file>